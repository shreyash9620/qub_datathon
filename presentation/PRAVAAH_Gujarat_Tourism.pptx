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85"/>
    <p:restoredTop sz="94610"/>
  </p:normalViewPr>
  <p:slideViewPr>
    <p:cSldViewPr snapToGrid="0" snapToObjects="1">
      <p:cViewPr>
        <p:scale>
          <a:sx n="107" d="100"/>
          <a:sy n="107" d="100"/>
        </p:scale>
        <p:origin x="86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596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[~20s] The question is simple but the stakes are high: Gujarat — India's third-largest foreign-tourist destination, in its declared Year of Tourism — must place ₹6,500 crore to maximise four goals at once: growth, jobs, regional inclusion, and sustainability. We built a transparent engine to answer exactly where. In five minutes: the opportunity, our method, the allocation, where it lands, why it's robust, and what to do Monday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[~50s] Most teams will chase footfall. That's a trap. Plot demand against supply and the story flips. Three districts — Panchmahal, Kheda, Mehsana — are top-ten for footfall yet have zero hotels in the data. Banaskantha, home to the Ambaji temple, absorbs 310,000 visits per hotel — and it's the least-literate district in Gujarat. And footfall is negatively correlated with hotel quality: the busiest places give the worst experience, exactly the on-the-ground problem the brief flags. The opportunity isn't where tourists already are — it's where demand outruns supply in districts that also need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[~40s] Our framework, PRAVAAH, is deliberately a glass box, not a black box — judges trust what they can audit. Four steps. One: score every district on four objectives — economic value (yield-adjusted, because a pilgrim day-tripper is not a premium eco-tourist), employment, inclusion, and sustainability. Two: constrain — a 30% floor for the least-literate districts and a carrying-capacity cap so we never overload a fragile eco-zone. Three: allocate the budget across districts and four investment levers. Four: stress-test against 500 weightings. Every number is sourced from WTTC, the Tourism Satellite Account, and the Census.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[~50s] Run the engine and here is what it recommends — three moves. One — build the white space: 2.3 thousand crore into Panchmahal, Kheda and Mehsana, where demand has no supply, paired with connectivity so the rooms get used. Two — lift the left-behind: a thousand crore into Banaskantha and Dahod, the inclusion flagship, with skilling, decongestion at Ambaji and quality upgrades. Three — protect and disperse: 700 crore at Dwarka and Gir Somnath to cap new build in eco-zones and spread visitors. And it's not all hotels — across four levers, the largest slice after build is upgrading the experience, and a quarter goes to skilling and sustainability, which is where inclusion and jobs actually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[~55s] Geographically, here is where it lands. The budget flows east and into the under-served interior, not just the big cities. Panchmahal leads at 895 crore — a UNESCO World Heritage site, Champaner-Pavagadh, with zero formal hotels today. Kheda and Mehsana follow on the same logic. Ahmedabad still gets money, but for quality upgrades, not new build. The headline: about 143,000 jobs — a sourced range, not a single hopeful number — and 37% of every rupee reaching the least-literate districts, which the model produced on merit before the equity floor even bound. And we're honest about the data: 85% goes where we have footfall evidence; 15% is ring-fenced to explore the districts we're blind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[~40s] A judge's first question for any weighted index is: did you tune the weights to get the answer you wanted? We pre-empted it. We re-ran the allocation under 500 random weightings spanning the entire policy space. Panchmahal lands in the top five in 100% of them; Kheda and Kachchh, over 80%. Within realistic policy bands the whole allocation moves just 5%. The teal districts are weight-invariant — the core recommendation is a property of the data, not of our assumptions. The grey districts swing interpretably: Ahmedabad rises if you prioritise growth, Banaskantha if you prioritise inclusion.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[~45s] Finally, delivery. This is phased, not a one-shot cheque. Now to eighteen months: quick wins — upgrade quality in the big hubs and decongest the crowded temples. Eighteen to forty-eight months: build the white space with capacity and the roads and rail to reach it. Years four to seven: activate the data-blind districts and monitor carrying capacity so growth stays sustainable. The payoff: roughly 143,000 jobs, 37% of the budget reaching the least-literate districts, and every rupee eco-capped and weight-tested. That is how Gujarat turns ₹6,500 crore — and its data — into inclusive, sustainable growth.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not spoken. The efficient frontier justifies the balanced stance; the five parameters are the model's external assumptions, each cited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not spoken. Only sources actually used in the PRAVAAH analysis are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not spoken. Only tools actually used are listed (visuals were built in Matplotlib + GeoPandas; the deck in PptxGenJS). AI-disclosure line included — confirm it aligns with QUB submission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4630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" y="713232"/>
            <a:ext cx="146304" cy="146304"/>
          </a:xfrm>
          <a:prstGeom prst="rect">
            <a:avLst/>
          </a:prstGeom>
          <a:solidFill>
            <a:srgbClr val="2F7FD0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" y="713232"/>
            <a:ext cx="146304" cy="146304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5" name="Text 3"/>
          <p:cNvSpPr/>
          <p:nvPr/>
        </p:nvSpPr>
        <p:spPr>
          <a:xfrm>
            <a:off x="1243584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 GIFT CITY DATATHON 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Gujarat invest</a:t>
            </a:r>
            <a:endParaRPr lang="en-US" sz="46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₹6,500 crore in tourism?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evidence-based allocation for economic growth, jobs, regional inclusion and sustainability.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₹6,500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5943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5943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~143k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9680" y="5943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modelled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the gap, not the crowd</a:t>
            </a:r>
            <a:endParaRPr lang="en-US" sz="3300" dirty="0"/>
          </a:p>
        </p:txBody>
      </p:sp>
      <p:pic>
        <p:nvPicPr>
          <p:cNvPr id="4" name="Image 0" descr="/Users/shreyashprajapati/Downloads/QUB_Datathon/analysis/outputs/figures/fig_quadr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990898"/>
            <a:ext cx="5943600" cy="41563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5328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top-10 footfall districts have </a:t>
            </a: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hotels in the data — a literal blank canvas.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0080" y="3337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310,000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39044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per hotel in Banaskantha (Ambaji) — </a:t>
            </a: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state's least-literate district.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0080" y="4709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−0.25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0080" y="52760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footfall with hotel quality — </a:t>
            </a: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busiest hubs deliver the worst experience.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3E25EA-AF98-23ED-9472-79E1983F3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29" y="0"/>
            <a:ext cx="11705280" cy="675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032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F7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PRAVAAH — a transparent allocation engine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42032" cy="155448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2037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4672" y="280720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311810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district on four objectives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63824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11296" y="2057400"/>
            <a:ext cx="2542032" cy="155448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22037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75888" y="280720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75888" y="311810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floor + carrying-capacity cap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3504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82512" y="2057400"/>
            <a:ext cx="2542032" cy="155448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2037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47104" y="280720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47104" y="311810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₹6,500 cr across districts &amp; levers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06256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253728" y="2057400"/>
            <a:ext cx="2542032" cy="155448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22037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9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418320" y="280720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311810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weightings + frontier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254203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4160520"/>
            <a:ext cx="14630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" y="40873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44074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yield-adjusted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511296" y="3977640"/>
            <a:ext cx="254203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F7F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75888" y="4160520"/>
            <a:ext cx="146304" cy="146304"/>
          </a:xfrm>
          <a:prstGeom prst="rect">
            <a:avLst/>
          </a:prstGeom>
          <a:solidFill>
            <a:srgbClr val="2F7FD0"/>
          </a:solidFill>
          <a:ln/>
        </p:spPr>
      </p:sp>
      <p:sp>
        <p:nvSpPr>
          <p:cNvPr id="29" name="Text 27"/>
          <p:cNvSpPr/>
          <p:nvPr/>
        </p:nvSpPr>
        <p:spPr>
          <a:xfrm>
            <a:off x="3895344" y="40873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95344" y="44074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/ crore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82512" y="3977640"/>
            <a:ext cx="254203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A75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47104" y="4160520"/>
            <a:ext cx="146304" cy="146304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40873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66560" y="44074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literacy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253728" y="3977640"/>
            <a:ext cx="254203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18320" y="4160520"/>
            <a:ext cx="146304" cy="14630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9637776" y="40873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37776" y="44074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+ eco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objectives, scored at step 1 — every parameter cited and tunable. No black box.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moves, four levers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74720" cy="265176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3474720" cy="11887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6712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WHITE SPACE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83464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₹2.3k cr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96112" y="3429000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Panchmahal, Kheda, Mehsana — new capacity + connectivity where demand has no supply.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1874520"/>
            <a:ext cx="3474720" cy="265176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688" y="1874520"/>
            <a:ext cx="3474720" cy="118872"/>
          </a:xfrm>
          <a:prstGeom prst="rect">
            <a:avLst/>
          </a:prstGeom>
          <a:solidFill>
            <a:srgbClr val="2F7FD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6712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LEFT-BEHIND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7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₹1.0k cr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3429000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Banaskantha &amp; Dahod — inclusive flagship: skilling, decongest Ambaji, raise quality.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1874520"/>
            <a:ext cx="3474720" cy="265176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3296" y="1874520"/>
            <a:ext cx="3474720" cy="118872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216712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DISPERSE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9328" y="283464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₹0.7k cr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39328" y="3429000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Dwarka &amp; Gir Somnath — cap new build in eco-zones, spread visitors, manage carrying capacity.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levers: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651760" y="4983480"/>
            <a:ext cx="14630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2889504" y="4864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₹2,122 cr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89504" y="5175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83480" y="4983480"/>
            <a:ext cx="146304" cy="146304"/>
          </a:xfrm>
          <a:prstGeom prst="rect">
            <a:avLst/>
          </a:prstGeom>
          <a:solidFill>
            <a:srgbClr val="2F7FD0"/>
          </a:solidFill>
          <a:ln/>
        </p:spPr>
      </p:sp>
      <p:sp>
        <p:nvSpPr>
          <p:cNvPr id="24" name="Text 22"/>
          <p:cNvSpPr/>
          <p:nvPr/>
        </p:nvSpPr>
        <p:spPr>
          <a:xfrm>
            <a:off x="5221224" y="4864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₹1,685 cr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21224" y="5175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4983480"/>
            <a:ext cx="146304" cy="146304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7" name="Text 25"/>
          <p:cNvSpPr/>
          <p:nvPr/>
        </p:nvSpPr>
        <p:spPr>
          <a:xfrm>
            <a:off x="7552944" y="4864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₹1,500 cr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52944" y="5175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disperse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646920" y="4983480"/>
            <a:ext cx="146304" cy="14630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9884664" y="4864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₹1,194 cr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84664" y="5175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Skilling &amp; sustainability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ALLOCATION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₹6,500 crore, on the map</a:t>
            </a:r>
            <a:endParaRPr lang="en-US" sz="3300" dirty="0"/>
          </a:p>
        </p:txBody>
      </p:sp>
      <p:pic>
        <p:nvPicPr>
          <p:cNvPr id="4" name="Image 0" descr="/Users/shreyashprajapati/Downloads/QUB_Datathon/analysis/outputs/figures/fig_chorople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4181"/>
            <a:ext cx="6583680" cy="457835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783080"/>
            <a:ext cx="4480560" cy="114300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040880" y="1783080"/>
            <a:ext cx="118872" cy="11430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4"/>
          <p:cNvSpPr/>
          <p:nvPr/>
        </p:nvSpPr>
        <p:spPr>
          <a:xfrm>
            <a:off x="7360920" y="19293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~143,000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360920" y="25328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created (98k–228k)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40880" y="3108960"/>
            <a:ext cx="4480560" cy="114300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0" y="3108960"/>
            <a:ext cx="118872" cy="114300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1" name="Text 8"/>
          <p:cNvSpPr/>
          <p:nvPr/>
        </p:nvSpPr>
        <p:spPr>
          <a:xfrm>
            <a:off x="7360920" y="325526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360920" y="3858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budget to low-literacy districts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040880" y="4434840"/>
            <a:ext cx="4480560" cy="114300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40880" y="4434840"/>
            <a:ext cx="118872" cy="1143000"/>
          </a:xfrm>
          <a:prstGeom prst="rect">
            <a:avLst/>
          </a:prstGeom>
          <a:solidFill>
            <a:srgbClr val="2F7FD0"/>
          </a:solidFill>
          <a:ln/>
        </p:spPr>
      </p:sp>
      <p:sp>
        <p:nvSpPr>
          <p:cNvPr id="15" name="Text 12"/>
          <p:cNvSpPr/>
          <p:nvPr/>
        </p:nvSpPr>
        <p:spPr>
          <a:xfrm>
            <a:off x="7360920" y="458114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7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₹895 cr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7360920" y="5184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Panchmahal — zero hotels today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40880" y="5806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to evidenced districts · 15% ring-fenced for data-blind districts.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F7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recommendation holds under any weighting</a:t>
            </a:r>
            <a:endParaRPr lang="en-US" sz="3300" dirty="0"/>
          </a:p>
        </p:txBody>
      </p:sp>
      <p:pic>
        <p:nvPicPr>
          <p:cNvPr id="4" name="Image 0" descr="/Users/shreyashprajapati/Downloads/QUB_Datathon/analysis/outputs/figures/fig_robus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16448"/>
            <a:ext cx="7315200" cy="42138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680960" y="2788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Panchmahal stays top-5 across 500 random weightings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0" y="3657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7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80960" y="43434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variation within plausible policy bands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0" y="5577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Weight-invariant — not cherry-picked.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4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46304" cy="14630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" y="713232"/>
            <a:ext cx="146304" cy="146304"/>
          </a:xfrm>
          <a:prstGeom prst="rect">
            <a:avLst/>
          </a:prstGeom>
          <a:solidFill>
            <a:srgbClr val="2F7FD0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" y="713232"/>
            <a:ext cx="146304" cy="146304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5" name="Text 3"/>
          <p:cNvSpPr/>
          <p:nvPr/>
        </p:nvSpPr>
        <p:spPr>
          <a:xfrm>
            <a:off x="1243584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BUDGET TO IMPACT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phased plan for inclusive growth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18 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048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wins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upgrades in Ahmedabad &amp; Surat; decongest Ambaji &amp; Dwarka.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61688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— 48 mo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61688" y="24048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white space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361688" y="2926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+ connectivity in Panchmahal, Kheda, Mehsana.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83296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7 yr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83296" y="24048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explore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083296" y="2926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data-blind districts; monitor carrying capacity.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~143k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created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61688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361688" y="5532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low-literacy districts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83296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083296" y="5532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eco-capped, weight-tested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E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 data into decisions that create meaningful impact.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 frontier &amp; model assumptions</a:t>
            </a:r>
            <a:endParaRPr lang="en-US" sz="3300" dirty="0"/>
          </a:p>
        </p:txBody>
      </p:sp>
      <p:pic>
        <p:nvPicPr>
          <p:cNvPr id="4" name="Image 0" descr="/Users/shreyashprajapati/Downloads/QUB_Datathon/analysis/outputs/figures/fig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94815"/>
            <a:ext cx="5852160" cy="44570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737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balanced?  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maps the economic–inclusion trade-off; balanced (red star) is a deliberate, defensible compromise — not a corner solution.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0" y="288036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Employment: 22 jobs / ₹cr central, 15–35 range (WTTC India 2024: 46.5M jobs / ₹21tn).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0" y="353872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Yield: relative spend tiers — pilgrimage ₹800 → eco-premium ₹6,000 (the footfall ≠ value fix).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0" y="419709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Inclusion: 2011 Census literacy (relative ranking); 30% floor to bottom-quartile districts.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0" y="485546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Sustainability: congestion (visits / hotel) + Gujarat's six notified Eco-Sensitive Zones.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0" y="551383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split: 85% evidenced (footfall) / 15% exploration (22 data-blind districts).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data sources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datasets — QUB GIFT City Datathon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&amp; accommodation dataset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328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tourism statistics (orig. Commissioner of Tourism, Gujarat)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9900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census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7024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district GeoJSON — india-maps-data (Survey of India base)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F7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institutional 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0756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Tourism, Govt. of India — India Tourism Statistics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5328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Travel &amp; Tourism Council (WTTC) — Economic Impact Report 2024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9900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Satellite Account (TSA) of India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34472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of India 2011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39044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Eco-Sensitive Zone notifications — MoEFCC / Gujarat Forest Dept.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listed were directly used in the analysis. No other datasets were incorporated.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96012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18872" cy="9601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836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modelling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openpyxl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257800" cy="96012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737360"/>
            <a:ext cx="118872" cy="960120"/>
          </a:xfrm>
          <a:prstGeom prst="rect">
            <a:avLst/>
          </a:prstGeom>
          <a:solidFill>
            <a:srgbClr val="2F7FD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836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5257800" cy="96012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80360"/>
            <a:ext cx="118872" cy="96012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0266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383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 · Shapely · GeoJSON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2880360"/>
            <a:ext cx="5257800" cy="96012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880360"/>
            <a:ext cx="118872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0266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development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383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· python-pptx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5257800" cy="96012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23360"/>
            <a:ext cx="118872" cy="960120"/>
          </a:xfrm>
          <a:prstGeom prst="rect">
            <a:avLst/>
          </a:prstGeom>
          <a:solidFill>
            <a:srgbClr val="7A4FB5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1696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526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(Dirichlet weight sampling)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4023360"/>
            <a:ext cx="5257800" cy="96012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023360"/>
            <a:ext cx="118872" cy="960120"/>
          </a:xfrm>
          <a:prstGeom prst="rect">
            <a:avLst/>
          </a:prstGeom>
          <a:solidFill>
            <a:srgbClr val="D99A2B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1696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4526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PRAVAAH allocation framework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50749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resources &amp; validation.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government and institutional reports (Ministry of Tourism, WTTC, India TSA, Census 2011) were used to harden the model's assumptions. Literature-informed multipliers — tourism jobs-per-crore and spend-per-visit by segment — were sensitivity-tested across documented ranges, not fixed at single values. Generative AI tools were used to accelerate coding and presentation development; all analyses, assumptions, validation, and recommendations were reviewed and verified by the team.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CA999E-01F1-2F9B-4258-9EC14FA53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11936"/>
            <a:ext cx="12027133" cy="614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8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1712</Words>
  <Application>Microsoft Macintosh PowerPoint</Application>
  <PresentationFormat>Widescreen</PresentationFormat>
  <Paragraphs>158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for Inclusive Growth in Gujarat</dc:title>
  <dc:subject>PptxGenJS Presentation</dc:subject>
  <dc:creator>PRAVAAH team</dc:creator>
  <cp:lastModifiedBy>Shreyash prajapati</cp:lastModifiedBy>
  <cp:revision>3</cp:revision>
  <dcterms:created xsi:type="dcterms:W3CDTF">2026-06-12T06:24:37Z</dcterms:created>
  <dcterms:modified xsi:type="dcterms:W3CDTF">2026-06-12T09:09:23Z</dcterms:modified>
</cp:coreProperties>
</file>